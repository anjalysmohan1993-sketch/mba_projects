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8" r:id="rId6"/>
    <p:sldId id="260" r:id="rId7"/>
    <p:sldId id="267" r:id="rId8"/>
    <p:sldId id="269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EC518E-94BF-4E7F-B551-6FFBDACDE572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3675C3-46C1-4123-A768-894D334570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075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Chi-square test checks whether two categorical variables are related to each other.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dirty="0"/>
              <a:t>Gender vs Brand preference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3675C3-46C1-4123-A768-894D3345700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0745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1DED2-9256-42CC-8522-75A0D10C23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246-7DF2-4202-B47B-4E3BD0F4A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20871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1DED2-9256-42CC-8522-75A0D10C23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246-7DF2-4202-B47B-4E3BD0F4A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49566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1DED2-9256-42CC-8522-75A0D10C23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246-7DF2-4202-B47B-4E3BD0F4A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034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1DED2-9256-42CC-8522-75A0D10C23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246-7DF2-4202-B47B-4E3BD0F4A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71120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1DED2-9256-42CC-8522-75A0D10C23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246-7DF2-4202-B47B-4E3BD0F4A898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0767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1DED2-9256-42CC-8522-75A0D10C23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246-7DF2-4202-B47B-4E3BD0F4A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491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1DED2-9256-42CC-8522-75A0D10C23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246-7DF2-4202-B47B-4E3BD0F4A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111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1DED2-9256-42CC-8522-75A0D10C23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246-7DF2-4202-B47B-4E3BD0F4A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649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62D1DED2-9256-42CC-8522-75A0D10C23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246-7DF2-4202-B47B-4E3BD0F4A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15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1DED2-9256-42CC-8522-75A0D10C23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246-7DF2-4202-B47B-4E3BD0F4A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799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1DED2-9256-42CC-8522-75A0D10C23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246-7DF2-4202-B47B-4E3BD0F4A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06606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1DED2-9256-42CC-8522-75A0D10C23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AE1246-7DF2-4202-B47B-4E3BD0F4A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2830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2D1DED2-9256-42CC-8522-75A0D10C2309}" type="datetimeFigureOut">
              <a:rPr lang="en-IN" smtClean="0"/>
              <a:t>15-02-2026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A2AE1246-7DF2-4202-B47B-4E3BD0F4A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259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47A26-07DC-E31F-37EC-D313A26BB0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310" y="479286"/>
            <a:ext cx="8991600" cy="1645920"/>
          </a:xfrm>
        </p:spPr>
        <p:txBody>
          <a:bodyPr>
            <a:normAutofit fontScale="90000"/>
          </a:bodyPr>
          <a:lstStyle/>
          <a:p>
            <a:r>
              <a:rPr lang="en-US" dirty="0"/>
              <a:t>Analyzing Smartphone Pricing and Consumer Preference Through Data Analytics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997C87-59E1-3997-C7C0-574015B0D2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31690" y="4398450"/>
            <a:ext cx="9202993" cy="1980264"/>
          </a:xfrm>
        </p:spPr>
        <p:txBody>
          <a:bodyPr>
            <a:normAutofit fontScale="85000" lnSpcReduction="20000"/>
          </a:bodyPr>
          <a:lstStyle/>
          <a:p>
            <a:pPr algn="r"/>
            <a:r>
              <a:rPr lang="en-IN" b="1" dirty="0"/>
              <a:t>Applied Learning Project</a:t>
            </a:r>
          </a:p>
          <a:p>
            <a:pPr algn="r"/>
            <a:r>
              <a:rPr lang="en-IN" b="1" dirty="0"/>
              <a:t>Master of Business Administration (Data Science and Analytics)</a:t>
            </a:r>
            <a:endParaRPr lang="en-IN" dirty="0"/>
          </a:p>
          <a:p>
            <a:pPr algn="r"/>
            <a:endParaRPr lang="en-IN" dirty="0"/>
          </a:p>
          <a:p>
            <a:pPr algn="r"/>
            <a:r>
              <a:rPr lang="en-IN" i="1" dirty="0"/>
              <a:t>Submitted by:</a:t>
            </a:r>
            <a:endParaRPr lang="en-IN" dirty="0"/>
          </a:p>
          <a:p>
            <a:pPr algn="r"/>
            <a:r>
              <a:rPr lang="en-IN" b="1" dirty="0"/>
              <a:t>Anjali S Mohan</a:t>
            </a:r>
          </a:p>
          <a:p>
            <a:pPr algn="r"/>
            <a:r>
              <a:rPr lang="en-IN" sz="1600" dirty="0"/>
              <a:t>USN : 241VMBR06227</a:t>
            </a:r>
          </a:p>
          <a:p>
            <a:pPr algn="r"/>
            <a:endParaRPr lang="en-IN" dirty="0"/>
          </a:p>
          <a:p>
            <a:pPr algn="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50268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71A2E-F003-8920-0C88-BA20278D5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6D766-64EB-FFF7-D7AA-F9303985CB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/>
              <a:t>'</a:t>
            </a:r>
            <a:r>
              <a:rPr lang="en-US" b="1" i="1" dirty="0" err="1"/>
              <a:t>Saap</a:t>
            </a:r>
            <a:r>
              <a:rPr lang="en-US" b="1" i="1" dirty="0"/>
              <a:t>,’ a smartphone retailer, seeks to analyze historical sales data of previously launched smartphones to identify key trends, patterns, and factors influencing their performance in the market .</a:t>
            </a:r>
            <a:endParaRPr lang="en-IN" b="1" i="1" dirty="0"/>
          </a:p>
          <a:p>
            <a:pPr marL="0" indent="0">
              <a:buNone/>
            </a:pPr>
            <a:r>
              <a:rPr lang="en-US" dirty="0"/>
              <a:t>Smartphone retailers often struggle to decide optimal pricing, feature positioning, and target customers due to lack of clear understanding of how product specifications and customer demographics influence purchasing behavior.</a:t>
            </a:r>
          </a:p>
          <a:p>
            <a:pPr marL="0" indent="0">
              <a:buNone/>
            </a:pPr>
            <a:r>
              <a:rPr lang="en-US" dirty="0"/>
              <a:t>Without data-driven insights, marketing and inventory decisions are based on assumptions rather than evidence, leading to reduced sales performance and inefficient business strategies.</a:t>
            </a:r>
          </a:p>
        </p:txBody>
      </p:sp>
    </p:spTree>
    <p:extLst>
      <p:ext uri="{BB962C8B-B14F-4D97-AF65-F5344CB8AC3E}">
        <p14:creationId xmlns:p14="http://schemas.microsoft.com/office/powerpoint/2010/main" val="22176742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B79748-C843-DDB1-BE72-FDE7DD077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936" y="669724"/>
            <a:ext cx="7729728" cy="1188720"/>
          </a:xfrm>
        </p:spPr>
        <p:txBody>
          <a:bodyPr/>
          <a:lstStyle/>
          <a:p>
            <a:r>
              <a:rPr lang="en-US" b="1" dirty="0"/>
              <a:t>Objectives</a:t>
            </a:r>
            <a:endParaRPr lang="en-IN" b="1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845FC58-D01B-D3E0-E588-A18AC0E407C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1936" y="2024984"/>
            <a:ext cx="7744236" cy="36929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Analyze historical </a:t>
            </a:r>
            <a:r>
              <a:rPr lang="en-US" altLang="en-US" sz="2000" dirty="0"/>
              <a:t>smartphone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dataset to </a:t>
            </a:r>
            <a:r>
              <a:rPr lang="en-US" altLang="en-US" sz="2000" dirty="0"/>
              <a:t>understand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market patterns </a:t>
            </a:r>
          </a:p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Identify key factors influencing smartphone price and performance</a:t>
            </a:r>
          </a:p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000" dirty="0"/>
              <a:t> Study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en-US" sz="2000" dirty="0"/>
              <a:t>customer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demographics and purchasing behavior</a:t>
            </a:r>
          </a:p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Perform statistical testing to validate assumptions</a:t>
            </a:r>
          </a:p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Visualize trends using interactive dashboards in Tableau</a:t>
            </a:r>
          </a:p>
          <a:p>
            <a:pPr marR="0" lvl="0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Derive business insights to support pricing</a:t>
            </a:r>
          </a:p>
        </p:txBody>
      </p:sp>
    </p:spTree>
    <p:extLst>
      <p:ext uri="{BB962C8B-B14F-4D97-AF65-F5344CB8AC3E}">
        <p14:creationId xmlns:p14="http://schemas.microsoft.com/office/powerpoint/2010/main" val="205423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087EE8-EF38-6F6A-F710-4D9402300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Overview </a:t>
            </a:r>
            <a:endParaRPr lang="en-IN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88F935C-B356-3354-675F-59DBFE8582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/>
          </a:bodyPr>
          <a:lstStyle/>
          <a:p>
            <a:endParaRPr lang="en-US" dirty="0"/>
          </a:p>
          <a:p>
            <a:r>
              <a:rPr lang="en-US" dirty="0"/>
              <a:t>Historical smartphone dataset provided for academic analysis with 22 column headers and around 990 rows</a:t>
            </a:r>
          </a:p>
          <a:p>
            <a:r>
              <a:rPr lang="en-US" dirty="0"/>
              <a:t>Represents smartphone specifications and customer demographic attributes</a:t>
            </a:r>
          </a:p>
          <a:p>
            <a:r>
              <a:rPr lang="en-US" dirty="0"/>
              <a:t>Used to study market behavior and pricing patterns</a:t>
            </a: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118F58C-0B13-EB29-422A-9C49DF9547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Contains multiple records of previously launched smartphones</a:t>
            </a:r>
          </a:p>
          <a:p>
            <a:r>
              <a:rPr lang="en-US" dirty="0"/>
              <a:t>Includes both numerical variables (price, RAM, battery, performance, camera, weight)</a:t>
            </a:r>
          </a:p>
          <a:p>
            <a:r>
              <a:rPr lang="en-US" dirty="0"/>
              <a:t>Includes categorical variables (brand, operating system, gender, city, occupation)</a:t>
            </a:r>
          </a:p>
          <a:p>
            <a:r>
              <a:rPr lang="en-US" dirty="0"/>
              <a:t>Date field converted into proper format for analysis</a:t>
            </a:r>
          </a:p>
          <a:p>
            <a:r>
              <a:rPr lang="en-US" dirty="0"/>
              <a:t>Unique record ID created for each entry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869514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03C645-E81B-3ED9-0988-908DE34E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28E874-0026-9388-E43D-2A59E1AE24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26922" y="2977872"/>
            <a:ext cx="5002162" cy="3247820"/>
          </a:xfrm>
        </p:spPr>
        <p:txBody>
          <a:bodyPr/>
          <a:lstStyle/>
          <a:p>
            <a:r>
              <a:rPr lang="en-US" dirty="0"/>
              <a:t>Cleaned dataset (checked missing values &amp; duplicates)</a:t>
            </a:r>
          </a:p>
          <a:p>
            <a:r>
              <a:rPr lang="en-US" dirty="0"/>
              <a:t>Converted date variable and created unique record ID</a:t>
            </a:r>
          </a:p>
          <a:p>
            <a:r>
              <a:rPr lang="en-US" dirty="0"/>
              <a:t>Classified variables into numerical and categorical features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68E34EB-DBA0-55D2-037B-673A530F6C98}"/>
              </a:ext>
            </a:extLst>
          </p:cNvPr>
          <p:cNvSpPr txBox="1">
            <a:spLocks/>
          </p:cNvSpPr>
          <p:nvPr/>
        </p:nvSpPr>
        <p:spPr>
          <a:xfrm>
            <a:off x="6314768" y="1036789"/>
            <a:ext cx="5009534" cy="704879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 fontScale="52500" lnSpcReduction="20000"/>
          </a:bodyPr>
          <a:lstStyle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800" b="1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Descriptive &amp; Correlation Analysis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DC37D52-AC2F-229A-7089-9D5D239A39C9}"/>
              </a:ext>
            </a:extLst>
          </p:cNvPr>
          <p:cNvSpPr txBox="1">
            <a:spLocks/>
          </p:cNvSpPr>
          <p:nvPr/>
        </p:nvSpPr>
        <p:spPr>
          <a:xfrm>
            <a:off x="6314768" y="2977872"/>
            <a:ext cx="5009534" cy="3247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/>
              <a:t>Distribution analysis using boxplots </a:t>
            </a:r>
          </a:p>
          <a:p>
            <a:r>
              <a:rPr lang="en-US" dirty="0"/>
              <a:t>Correlation heatmap to identify relationships</a:t>
            </a:r>
          </a:p>
          <a:p>
            <a:r>
              <a:rPr lang="en-IN" dirty="0"/>
              <a:t>Brand frequency analysis using Count Plots </a:t>
            </a:r>
          </a:p>
        </p:txBody>
      </p:sp>
      <p:sp>
        <p:nvSpPr>
          <p:cNvPr id="12" name="Title 8">
            <a:extLst>
              <a:ext uri="{FF2B5EF4-FFF2-40B4-BE49-F238E27FC236}">
                <a16:creationId xmlns:a16="http://schemas.microsoft.com/office/drawing/2014/main" id="{3E50FFB2-E2D8-614C-ECF5-7F66F4037A19}"/>
              </a:ext>
            </a:extLst>
          </p:cNvPr>
          <p:cNvSpPr txBox="1">
            <a:spLocks/>
          </p:cNvSpPr>
          <p:nvPr/>
        </p:nvSpPr>
        <p:spPr>
          <a:xfrm>
            <a:off x="326922" y="1036789"/>
            <a:ext cx="4500717" cy="704879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 fontScale="5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/>
              <a:t>Data Preparations</a:t>
            </a:r>
            <a:br>
              <a:rPr lang="en-IN" b="1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4018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2055D-0432-427B-0356-AC1F1D8AE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850" y="210621"/>
            <a:ext cx="6619569" cy="6644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Key Observations</a:t>
            </a:r>
            <a:endParaRPr lang="en-IN" sz="28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2597B3-F0F4-64D6-13E6-B6BB582A2C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37850" y="1600402"/>
            <a:ext cx="6016111" cy="3247820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Price increases with RAM, memory and performance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Screen size associated with phone weight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Majority of devices fall in mid-range and premium segment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Samsung, Apple and Xiaomi dominate dataset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0921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F2444-A98C-E812-45DE-EDC52E609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1508D-088D-15B3-CE68-C5EB6A657B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6805" y="2753032"/>
            <a:ext cx="4638369" cy="251802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A t-test is used to compare the average values of two groups and check whether the difference between them is statistically significant.</a:t>
            </a:r>
          </a:p>
          <a:p>
            <a:r>
              <a:rPr lang="en-US" dirty="0"/>
              <a:t>iOS phones significantly more expensive than Android</a:t>
            </a:r>
          </a:p>
          <a:p>
            <a:r>
              <a:rPr lang="en-US" dirty="0"/>
              <a:t>Battery capacity commonly above 4000mAh</a:t>
            </a:r>
          </a:p>
          <a:p>
            <a:r>
              <a:rPr lang="en-US" dirty="0"/>
              <a:t>Main and selfie camera resolutions above standard thresholds</a:t>
            </a:r>
          </a:p>
          <a:p>
            <a:r>
              <a:rPr lang="en-US" dirty="0"/>
              <a:t>Salary differs across gender and city groups</a:t>
            </a:r>
          </a:p>
          <a:p>
            <a:endParaRPr lang="en-IN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6956FC4-D5A8-6F74-A1E9-DCBBDD48A226}"/>
              </a:ext>
            </a:extLst>
          </p:cNvPr>
          <p:cNvSpPr txBox="1">
            <a:spLocks/>
          </p:cNvSpPr>
          <p:nvPr/>
        </p:nvSpPr>
        <p:spPr>
          <a:xfrm>
            <a:off x="626805" y="1317522"/>
            <a:ext cx="4638369" cy="521109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 fontScale="45000" lnSpcReduction="20000"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800" b="1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T-Test Findings</a:t>
            </a:r>
          </a:p>
          <a:p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8BF838D-DA63-FC4B-5F47-51F4319535F5}"/>
              </a:ext>
            </a:extLst>
          </p:cNvPr>
          <p:cNvSpPr txBox="1">
            <a:spLocks/>
          </p:cNvSpPr>
          <p:nvPr/>
        </p:nvSpPr>
        <p:spPr>
          <a:xfrm>
            <a:off x="6314768" y="1317522"/>
            <a:ext cx="4795684" cy="52111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 fontScale="45000" lnSpcReduction="20000"/>
          </a:bodyPr>
          <a:lstStyle>
            <a:defPPr>
              <a:defRPr lang="en-US"/>
            </a:defPPr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2800" b="1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dirty="0"/>
              <a:t>ANOVA Findings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65F0067-3E3F-D3B4-3A94-733FC6AE956B}"/>
              </a:ext>
            </a:extLst>
          </p:cNvPr>
          <p:cNvSpPr txBox="1">
            <a:spLocks/>
          </p:cNvSpPr>
          <p:nvPr/>
        </p:nvSpPr>
        <p:spPr>
          <a:xfrm>
            <a:off x="6314768" y="2753032"/>
            <a:ext cx="5009534" cy="32478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ANOVA is used to compare the averages of more than two groups at the same time.</a:t>
            </a:r>
          </a:p>
          <a:p>
            <a:r>
              <a:rPr lang="en-US" dirty="0"/>
              <a:t>Price significantly varies across brands</a:t>
            </a:r>
          </a:p>
          <a:p>
            <a:r>
              <a:rPr lang="en-US" dirty="0"/>
              <a:t>Performance differs across age groups</a:t>
            </a:r>
          </a:p>
          <a:p>
            <a:r>
              <a:rPr lang="en-US" dirty="0"/>
              <a:t>RAM varies across operating systems</a:t>
            </a:r>
          </a:p>
          <a:p>
            <a:r>
              <a:rPr lang="en-US" dirty="0"/>
              <a:t>Battery capacity differs by brand</a:t>
            </a:r>
          </a:p>
          <a:p>
            <a:endParaRPr lang="en-US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51614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CBEE92-1069-6589-C337-CF8037E05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4D08C-D9EA-78BC-9805-D71BF935B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243" y="483853"/>
            <a:ext cx="6619569" cy="66445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Statistical Findings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A211A5-7EFF-1A0F-7E44-058639D776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13243" y="1759973"/>
            <a:ext cx="6057595" cy="2379407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Smartphone pricing is feature-driven and brand-dependent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Customer demographics influence purchasing power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dirty="0"/>
              <a:t>Market segmentation clearly exists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50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7D7E1-EF2A-BAD7-F024-FE49EB12A1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A36B55-E82F-B236-EBB7-848EE133D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608" y="717263"/>
            <a:ext cx="8654255" cy="1188720"/>
          </a:xfrm>
        </p:spPr>
        <p:txBody>
          <a:bodyPr/>
          <a:lstStyle/>
          <a:p>
            <a:r>
              <a:rPr lang="en-US" b="1" dirty="0"/>
              <a:t>EDA Using Tableau – Specification vs Price Analysis</a:t>
            </a:r>
            <a:endParaRPr lang="en-IN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2B5ECFF-D934-E85A-AE5E-A781A998B7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06608" y="3429000"/>
            <a:ext cx="3698011" cy="2163096"/>
          </a:xfrm>
        </p:spPr>
        <p:txBody>
          <a:bodyPr>
            <a:normAutofit/>
          </a:bodyPr>
          <a:lstStyle/>
          <a:p>
            <a:r>
              <a:rPr lang="en-US" dirty="0"/>
              <a:t>RAM vs Performance</a:t>
            </a:r>
          </a:p>
          <a:p>
            <a:r>
              <a:rPr lang="en-US" dirty="0"/>
              <a:t>Performance vs Price</a:t>
            </a:r>
          </a:p>
          <a:p>
            <a:r>
              <a:rPr lang="en-US" dirty="0"/>
              <a:t>Battery vs Price</a:t>
            </a:r>
          </a:p>
          <a:p>
            <a:r>
              <a:rPr lang="en-US" dirty="0"/>
              <a:t>Brand vs Average Price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BDF5C7-9F66-A7CA-A1E1-B59019D825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59135" y="3546987"/>
            <a:ext cx="4001729" cy="2824316"/>
          </a:xfrm>
        </p:spPr>
        <p:txBody>
          <a:bodyPr>
            <a:normAutofit/>
          </a:bodyPr>
          <a:lstStyle/>
          <a:p>
            <a:r>
              <a:rPr lang="en-US" dirty="0"/>
              <a:t>Higher RAM and performance significantly increase smartphone price</a:t>
            </a:r>
          </a:p>
          <a:p>
            <a:r>
              <a:rPr lang="en-US" dirty="0"/>
              <a:t>Premium brands consistently priced higher</a:t>
            </a:r>
          </a:p>
          <a:p>
            <a:r>
              <a:rPr lang="en-US" dirty="0"/>
              <a:t>Battery capacity positively influences price range</a:t>
            </a:r>
          </a:p>
          <a:p>
            <a:r>
              <a:rPr lang="en-US" dirty="0"/>
              <a:t>Flagship devices cluster in high-performance segment</a:t>
            </a:r>
            <a:endParaRPr lang="en-IN" dirty="0"/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9382B7A-3288-8E6B-F82F-6E1651C49899}"/>
              </a:ext>
            </a:extLst>
          </p:cNvPr>
          <p:cNvSpPr txBox="1">
            <a:spLocks/>
          </p:cNvSpPr>
          <p:nvPr/>
        </p:nvSpPr>
        <p:spPr>
          <a:xfrm>
            <a:off x="1306608" y="2638044"/>
            <a:ext cx="4271771" cy="515554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Performance indicators evaluated</a:t>
            </a: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8C18F542-7EE4-1CC0-D017-14A0FAA97BDE}"/>
              </a:ext>
            </a:extLst>
          </p:cNvPr>
          <p:cNvSpPr txBox="1">
            <a:spLocks/>
          </p:cNvSpPr>
          <p:nvPr/>
        </p:nvSpPr>
        <p:spPr>
          <a:xfrm>
            <a:off x="6096001" y="2638044"/>
            <a:ext cx="3864864" cy="515554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Analytical outcomes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845452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CFFEF-2249-B6FA-290D-B7AB2BF19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D2E6CE1-F708-1949-C914-FD6B39B30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27" y="653894"/>
            <a:ext cx="9203057" cy="1188720"/>
          </a:xfrm>
        </p:spPr>
        <p:txBody>
          <a:bodyPr/>
          <a:lstStyle/>
          <a:p>
            <a:r>
              <a:rPr lang="en-IN" b="1" dirty="0"/>
              <a:t>Customer Demographics &amp; Purchasing Behaviour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0857E6D-B1F1-551A-F6BA-893F9CBB6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44127" y="3638230"/>
            <a:ext cx="3943817" cy="2596503"/>
          </a:xfrm>
        </p:spPr>
        <p:txBody>
          <a:bodyPr>
            <a:normAutofit/>
          </a:bodyPr>
          <a:lstStyle/>
          <a:p>
            <a:r>
              <a:rPr lang="en-US" dirty="0"/>
              <a:t>Gender vs Brand preference</a:t>
            </a:r>
          </a:p>
          <a:p>
            <a:r>
              <a:rPr lang="en-US" dirty="0"/>
              <a:t>Salary vs Phone price</a:t>
            </a:r>
          </a:p>
          <a:p>
            <a:r>
              <a:rPr lang="en-US" dirty="0"/>
              <a:t>Age group vs Price segment</a:t>
            </a:r>
          </a:p>
          <a:p>
            <a:r>
              <a:rPr lang="en-US" dirty="0"/>
              <a:t>Occupation vs Purchase pattern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780808-A4BF-ADEE-9CB4-8CC249DD83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3638230"/>
            <a:ext cx="4051185" cy="2731697"/>
          </a:xfrm>
        </p:spPr>
        <p:txBody>
          <a:bodyPr>
            <a:normAutofit/>
          </a:bodyPr>
          <a:lstStyle/>
          <a:p>
            <a:r>
              <a:rPr lang="en-US" dirty="0"/>
              <a:t>Higher income customers buy higher priced smartphones</a:t>
            </a:r>
          </a:p>
          <a:p>
            <a:r>
              <a:rPr lang="en-US" dirty="0"/>
              <a:t>Different age groups prefer different price segments</a:t>
            </a:r>
          </a:p>
          <a:p>
            <a:r>
              <a:rPr lang="en-US" dirty="0"/>
              <a:t>Brand preference varies across gender</a:t>
            </a:r>
          </a:p>
          <a:p>
            <a:r>
              <a:rPr lang="en-IN" dirty="0"/>
              <a:t>Occupation influences purchasing power</a:t>
            </a:r>
          </a:p>
          <a:p>
            <a:endParaRPr lang="en-IN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3B5AF0F0-8C48-94D2-97C1-3A65581CA42D}"/>
              </a:ext>
            </a:extLst>
          </p:cNvPr>
          <p:cNvSpPr txBox="1">
            <a:spLocks/>
          </p:cNvSpPr>
          <p:nvPr/>
        </p:nvSpPr>
        <p:spPr>
          <a:xfrm>
            <a:off x="944128" y="2638044"/>
            <a:ext cx="4634252" cy="515554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Performance indicators evaluated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61F0F255-81E0-F505-0EAA-CFD025D7AB87}"/>
              </a:ext>
            </a:extLst>
          </p:cNvPr>
          <p:cNvSpPr txBox="1">
            <a:spLocks/>
          </p:cNvSpPr>
          <p:nvPr/>
        </p:nvSpPr>
        <p:spPr>
          <a:xfrm>
            <a:off x="6096000" y="2638044"/>
            <a:ext cx="4051183" cy="515554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Analytical outcomes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00035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36792-CA19-AB71-DBFB-66E002A5F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8A11366-1153-9C66-C821-0B7DB7230E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4129" y="717263"/>
            <a:ext cx="9301084" cy="1188720"/>
          </a:xfrm>
        </p:spPr>
        <p:txBody>
          <a:bodyPr/>
          <a:lstStyle/>
          <a:p>
            <a:r>
              <a:rPr lang="en-IN" b="1" dirty="0"/>
              <a:t>Business Insights &amp; Market Trends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B0650ED-3990-D4F7-5559-77EF5D0A05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44128" y="3446206"/>
            <a:ext cx="3619350" cy="2576838"/>
          </a:xfrm>
        </p:spPr>
        <p:txBody>
          <a:bodyPr>
            <a:normAutofit/>
          </a:bodyPr>
          <a:lstStyle/>
          <a:p>
            <a:r>
              <a:rPr lang="en-US" dirty="0"/>
              <a:t>Pareto analysis of brands</a:t>
            </a:r>
          </a:p>
          <a:p>
            <a:r>
              <a:rPr lang="en-US" dirty="0"/>
              <a:t>Regional distribution</a:t>
            </a:r>
          </a:p>
          <a:p>
            <a:r>
              <a:rPr lang="en-US" dirty="0"/>
              <a:t>Operating system market share</a:t>
            </a:r>
          </a:p>
          <a:p>
            <a:r>
              <a:rPr lang="en-US" dirty="0"/>
              <a:t>Top models by rating</a:t>
            </a:r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EBBFA0-C43E-2289-20AB-896AA5C081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43789" y="3429000"/>
            <a:ext cx="4101424" cy="2824316"/>
          </a:xfrm>
        </p:spPr>
        <p:txBody>
          <a:bodyPr>
            <a:normAutofit/>
          </a:bodyPr>
          <a:lstStyle/>
          <a:p>
            <a:r>
              <a:rPr lang="en-US" dirty="0"/>
              <a:t>Few brands contribute majority of premium market revenue</a:t>
            </a:r>
          </a:p>
          <a:p>
            <a:r>
              <a:rPr lang="en-US" dirty="0"/>
              <a:t>iOS dominates premium segment, Android covers wider range</a:t>
            </a:r>
          </a:p>
          <a:p>
            <a:r>
              <a:rPr lang="en-US" dirty="0"/>
              <a:t>Certain regions show higher purchasing capacity</a:t>
            </a:r>
          </a:p>
          <a:p>
            <a:r>
              <a:rPr lang="en-US" dirty="0"/>
              <a:t>Top-rated models belong to high-performance category</a:t>
            </a:r>
            <a:endParaRPr lang="en-IN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id="{F3166B29-07C8-4E39-B6F1-FA316881C0B5}"/>
              </a:ext>
            </a:extLst>
          </p:cNvPr>
          <p:cNvSpPr txBox="1">
            <a:spLocks/>
          </p:cNvSpPr>
          <p:nvPr/>
        </p:nvSpPr>
        <p:spPr>
          <a:xfrm>
            <a:off x="944128" y="2638044"/>
            <a:ext cx="4634252" cy="515554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 fontScale="4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Performance indicators evaluated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BECE8AA9-4A76-941B-E326-C2DA869FF7BF}"/>
              </a:ext>
            </a:extLst>
          </p:cNvPr>
          <p:cNvSpPr txBox="1">
            <a:spLocks/>
          </p:cNvSpPr>
          <p:nvPr/>
        </p:nvSpPr>
        <p:spPr>
          <a:xfrm>
            <a:off x="6096000" y="2638044"/>
            <a:ext cx="4149213" cy="515554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 fontScale="47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Analytical outcomes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3718852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8AE3FA0-91FF-76CA-A00B-B4993B714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1367" y="1462856"/>
            <a:ext cx="5157787" cy="368458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Target high-income customers with premium feature smartphones</a:t>
            </a:r>
          </a:p>
          <a:p>
            <a:r>
              <a:rPr lang="en-US" dirty="0"/>
              <a:t>Focus marketing on performance and camera quality, as they strongly influence price perception</a:t>
            </a:r>
          </a:p>
          <a:p>
            <a:r>
              <a:rPr lang="en-US" dirty="0"/>
              <a:t>Maintain balanced models in the mid-range segment to capture maximum customers</a:t>
            </a:r>
          </a:p>
          <a:p>
            <a:r>
              <a:rPr lang="en-US" dirty="0"/>
              <a:t>Apply region-based promotion strategies based on purchasing capacity</a:t>
            </a:r>
          </a:p>
          <a:p>
            <a:r>
              <a:rPr lang="en-US" dirty="0"/>
              <a:t>Use brand positioning to clearly separate premium and budget product lines</a:t>
            </a:r>
            <a:endParaRPr lang="en-IN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4DBAA6E-DB12-F860-9A34-3F2602788D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6000" y="363794"/>
            <a:ext cx="5183188" cy="623556"/>
          </a:xfr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IN" sz="2000" b="1" spc="200" dirty="0">
                <a:ea typeface="+mj-ea"/>
                <a:cs typeface="+mj-cs"/>
              </a:rPr>
              <a:t>Future Scope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D0FFE36E-4136-D376-3BFE-8CEF23378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6000" y="1462856"/>
            <a:ext cx="5183188" cy="3684588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Build a price prediction model using machine learning</a:t>
            </a:r>
          </a:p>
          <a:p>
            <a:r>
              <a:rPr lang="en-US" dirty="0"/>
              <a:t>Include real-time sales and customer feedback data</a:t>
            </a:r>
          </a:p>
          <a:p>
            <a:r>
              <a:rPr lang="en-IN" dirty="0"/>
              <a:t>Perform demand forecasting for inventory planning</a:t>
            </a:r>
          </a:p>
          <a:p>
            <a:endParaRPr lang="en-IN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B31E059-1D51-B81C-4750-053AC730200E}"/>
              </a:ext>
            </a:extLst>
          </p:cNvPr>
          <p:cNvSpPr txBox="1">
            <a:spLocks/>
          </p:cNvSpPr>
          <p:nvPr/>
        </p:nvSpPr>
        <p:spPr>
          <a:xfrm>
            <a:off x="411367" y="363794"/>
            <a:ext cx="5183188" cy="623556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000" b="1" dirty="0"/>
              <a:t>Business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3964313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A5B8E-7E36-5DFC-9821-15B73E997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561" y="1004221"/>
            <a:ext cx="10515600" cy="1325563"/>
          </a:xfrm>
        </p:spPr>
        <p:txBody>
          <a:bodyPr>
            <a:normAutofit/>
          </a:bodyPr>
          <a:lstStyle/>
          <a:p>
            <a:r>
              <a:rPr lang="en-US" sz="6000" b="1" dirty="0"/>
              <a:t>THANK YOU </a:t>
            </a:r>
            <a:endParaRPr lang="en-IN" sz="6000" b="1" dirty="0"/>
          </a:p>
        </p:txBody>
      </p:sp>
    </p:spTree>
    <p:extLst>
      <p:ext uri="{BB962C8B-B14F-4D97-AF65-F5344CB8AC3E}">
        <p14:creationId xmlns:p14="http://schemas.microsoft.com/office/powerpoint/2010/main" val="4835290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461</TotalTime>
  <Words>694</Words>
  <Application>Microsoft Office PowerPoint</Application>
  <PresentationFormat>Widescreen</PresentationFormat>
  <Paragraphs>105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Gill Sans MT</vt:lpstr>
      <vt:lpstr>Wingdings</vt:lpstr>
      <vt:lpstr>Parcel</vt:lpstr>
      <vt:lpstr>Analyzing Smartphone Pricing and Consumer Preference Through Data Analytics</vt:lpstr>
      <vt:lpstr>Problem Statement</vt:lpstr>
      <vt:lpstr>Objectives</vt:lpstr>
      <vt:lpstr>Dataset Overview </vt:lpstr>
      <vt:lpstr>PowerPoint Presentation</vt:lpstr>
      <vt:lpstr>Key Observations</vt:lpstr>
      <vt:lpstr>PowerPoint Presentation</vt:lpstr>
      <vt:lpstr>Statistical Findings</vt:lpstr>
      <vt:lpstr>EDA Using Tableau – Specification vs Price Analysis</vt:lpstr>
      <vt:lpstr>Customer Demographics &amp; Purchasing Behaviour</vt:lpstr>
      <vt:lpstr>Business Insights &amp; Market Trends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anjali s mohan</dc:creator>
  <cp:lastModifiedBy>anjali s mohan</cp:lastModifiedBy>
  <cp:revision>9</cp:revision>
  <dcterms:created xsi:type="dcterms:W3CDTF">2026-02-15T01:04:09Z</dcterms:created>
  <dcterms:modified xsi:type="dcterms:W3CDTF">2026-02-15T15:12:09Z</dcterms:modified>
</cp:coreProperties>
</file>